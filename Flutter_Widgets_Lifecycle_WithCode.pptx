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67EEA"/>
        </a:solidFill>
      </p:bgPr>
    </p:bg>
    <p:spTree>
      <p:nvGrpSpPr>
        <p:cNvPr id="1" name=""/>
        <p:cNvGrpSpPr/>
        <p:nvPr/>
      </p:nvGrpSpPr>
      <p:grpSpPr>
        <a:xfrm>
          <a:off x="0" y="0"/>
          <a:ext cx="0" cy="0"/>
          <a:chOff x="0" y="0"/>
          <a:chExt cx="0" cy="0"/>
        </a:xfrm>
      </p:grpSpPr>
      <p:sp>
        <p:nvSpPr>
          <p:cNvPr id="2" name="Text 0"/>
          <p:cNvSpPr/>
          <p:nvPr/>
        </p:nvSpPr>
        <p:spPr>
          <a:xfrm>
            <a:off x="457200" y="2286000"/>
            <a:ext cx="8229600" cy="1371600"/>
          </a:xfrm>
          <a:prstGeom prst="rect">
            <a:avLst/>
          </a:prstGeom>
          <a:noFill/>
          <a:ln/>
        </p:spPr>
        <p:txBody>
          <a:bodyPr wrap="square" rtlCol="0" anchor="ctr"/>
          <a:lstStyle/>
          <a:p>
            <a:pPr algn="ctr" indent="0" marL="0">
              <a:buNone/>
            </a:pPr>
            <a:r>
              <a:rPr lang="en-US" sz="6000" b="1" dirty="0">
                <a:solidFill>
                  <a:srgbClr val="FFFFFF"/>
                </a:solidFill>
              </a:rPr>
              <a:t>Flutter Widgets &amp; Lifecycle</a:t>
            </a:r>
            <a:endParaRPr lang="en-US" sz="6000" dirty="0"/>
          </a:p>
        </p:txBody>
      </p:sp>
      <p:sp>
        <p:nvSpPr>
          <p:cNvPr id="3" name="Text 1"/>
          <p:cNvSpPr/>
          <p:nvPr/>
        </p:nvSpPr>
        <p:spPr>
          <a:xfrm>
            <a:off x="457200" y="3657600"/>
            <a:ext cx="8229600" cy="731520"/>
          </a:xfrm>
          <a:prstGeom prst="rect">
            <a:avLst/>
          </a:prstGeom>
          <a:noFill/>
          <a:ln/>
        </p:spPr>
        <p:txBody>
          <a:bodyPr wrap="square" rtlCol="0" anchor="ctr"/>
          <a:lstStyle/>
          <a:p>
            <a:pPr algn="ctr" indent="0" marL="0">
              <a:buNone/>
            </a:pPr>
            <a:r>
              <a:rPr lang="en-US" sz="2800" dirty="0">
                <a:solidFill>
                  <a:srgbClr val="FFFFFF"/>
                </a:solidFill>
              </a:rPr>
              <a:t>Common Layout Widgets &amp; Responsive Design</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576C"/>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FFFFFF"/>
                </a:solidFill>
              </a:rPr>
              <a:t>Container</a:t>
            </a:r>
            <a:endParaRPr lang="en-US" sz="40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800" dirty="0">
                <a:solidFill>
                  <a:srgbClr val="FFFFFF"/>
                </a:solidFill>
              </a:rPr>
              <a:t>A box that can hold one child widget. Extremely versatile — you can give it: width/height, padding, margin, decoration (color, border, borderRadius, boxShadow, gradient), alignment. Think of it as the Swiss-army knife of layout widgets.</a:t>
            </a:r>
            <a:endParaRPr lang="en-US" sz="1800" dirty="0"/>
          </a:p>
        </p:txBody>
      </p:sp>
      <p:sp>
        <p:nvSpPr>
          <p:cNvPr id="4" name="Shape 2"/>
          <p:cNvSpPr/>
          <p:nvPr/>
        </p:nvSpPr>
        <p:spPr>
          <a:xfrm>
            <a:off x="457200" y="2011680"/>
            <a:ext cx="8229600" cy="2560320"/>
          </a:xfrm>
          <a:prstGeom prst="roundRect">
            <a:avLst/>
          </a:prstGeom>
          <a:solidFill>
            <a:srgbClr val="000000">
              <a:alpha val="70000"/>
            </a:srgbClr>
          </a:solidFill>
          <a:ln/>
        </p:spPr>
      </p:sp>
      <p:sp>
        <p:nvSpPr>
          <p:cNvPr id="5" name="Text 3"/>
          <p:cNvSpPr/>
          <p:nvPr/>
        </p:nvSpPr>
        <p:spPr>
          <a:xfrm>
            <a:off x="640080" y="2194560"/>
            <a:ext cx="7863840" cy="2194560"/>
          </a:xfrm>
          <a:prstGeom prst="rect">
            <a:avLst/>
          </a:prstGeom>
          <a:noFill/>
          <a:ln/>
        </p:spPr>
        <p:txBody>
          <a:bodyPr wrap="square" rtlCol="0" anchor="ctr"/>
          <a:lstStyle/>
          <a:p>
            <a:pPr indent="0" marL="0">
              <a:buNone/>
            </a:pPr>
            <a:r>
              <a:rPr lang="en-US" sz="1600" dirty="0">
                <a:solidFill>
                  <a:srgbClr val="FFFFFF"/>
                </a:solidFill>
                <a:latin typeface="Courier New" pitchFamily="34" charset="0"/>
                <a:ea typeface="Courier New" pitchFamily="34" charset="-122"/>
                <a:cs typeface="Courier New" pitchFamily="34" charset="-120"/>
              </a:rPr>
              <a:t>Container(</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  width: 200,</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  height: 150,</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  padding: EdgeInsets.all(16),</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  margin: EdgeInsets.only(top: 20),</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  decoration: BoxDecoration(</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    color: Colors.blue,</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    borderRadius: BorderRadius.circular(12),</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    boxShadow: [BoxShadow(blurRadius: 10)],</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  child: Text("Hello from Container"),</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576C"/>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FFFFFF"/>
                </a:solidFill>
              </a:rPr>
              <a:t>Row</a:t>
            </a:r>
            <a:endParaRPr lang="en-US" sz="4000" dirty="0"/>
          </a:p>
        </p:txBody>
      </p:sp>
      <p:sp>
        <p:nvSpPr>
          <p:cNvPr id="3" name="Text 1"/>
          <p:cNvSpPr/>
          <p:nvPr/>
        </p:nvSpPr>
        <p:spPr>
          <a:xfrm>
            <a:off x="457200" y="914400"/>
            <a:ext cx="8229600" cy="731520"/>
          </a:xfrm>
          <a:prstGeom prst="rect">
            <a:avLst/>
          </a:prstGeom>
          <a:noFill/>
          <a:ln/>
        </p:spPr>
        <p:txBody>
          <a:bodyPr wrap="square" rtlCol="0" anchor="ctr"/>
          <a:lstStyle/>
          <a:p>
            <a:pPr indent="0" marL="0">
              <a:buNone/>
            </a:pPr>
            <a:r>
              <a:rPr lang="en-US" sz="1800" dirty="0">
                <a:solidFill>
                  <a:srgbClr val="FFFFFF"/>
                </a:solidFill>
              </a:rPr>
              <a:t>Arranges children horizontally (left to right). Main axis = horizontal, Cross axis = vertical. Common properties: mainAxisAlignment, crossAxisAlignment, mainAxisSize.</a:t>
            </a:r>
            <a:endParaRPr lang="en-US" sz="1800" dirty="0"/>
          </a:p>
        </p:txBody>
      </p:sp>
      <p:sp>
        <p:nvSpPr>
          <p:cNvPr id="4" name="Shape 2"/>
          <p:cNvSpPr/>
          <p:nvPr/>
        </p:nvSpPr>
        <p:spPr>
          <a:xfrm>
            <a:off x="457200" y="1828800"/>
            <a:ext cx="8229600" cy="2743200"/>
          </a:xfrm>
          <a:prstGeom prst="roundRect">
            <a:avLst/>
          </a:prstGeom>
          <a:solidFill>
            <a:srgbClr val="000000">
              <a:alpha val="70000"/>
            </a:srgbClr>
          </a:solidFill>
          <a:ln/>
        </p:spPr>
      </p:sp>
      <p:sp>
        <p:nvSpPr>
          <p:cNvPr id="5" name="Text 3"/>
          <p:cNvSpPr/>
          <p:nvPr/>
        </p:nvSpPr>
        <p:spPr>
          <a:xfrm>
            <a:off x="640080" y="2011680"/>
            <a:ext cx="7863840" cy="2377440"/>
          </a:xfrm>
          <a:prstGeom prst="rect">
            <a:avLst/>
          </a:prstGeom>
          <a:noFill/>
          <a:ln/>
        </p:spPr>
        <p:txBody>
          <a:bodyPr wrap="square" rtlCol="0" anchor="ctr"/>
          <a:lstStyle/>
          <a:p>
            <a:pPr indent="0" marL="0">
              <a:buNone/>
            </a:pPr>
            <a:r>
              <a:rPr lang="en-US" sz="1600" dirty="0">
                <a:solidFill>
                  <a:srgbClr val="FFFFFF"/>
                </a:solidFill>
                <a:latin typeface="Courier New" pitchFamily="34" charset="0"/>
                <a:ea typeface="Courier New" pitchFamily="34" charset="-122"/>
                <a:cs typeface="Courier New" pitchFamily="34" charset="-120"/>
              </a:rPr>
              <a:t>Row(</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  mainAxisAlignment: MainAxisAlignment.spaceBetween,</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  children: [</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    Icon(Icons.star),</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    Text("Row Example"),</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    ElevatedButton(</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      onPressed: () {},</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      child: Text("Click")</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576C"/>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FFFFFF"/>
                </a:solidFill>
              </a:rPr>
              <a:t>Column</a:t>
            </a:r>
            <a:endParaRPr lang="en-US" sz="4000" dirty="0"/>
          </a:p>
        </p:txBody>
      </p:sp>
      <p:sp>
        <p:nvSpPr>
          <p:cNvPr id="3" name="Text 1"/>
          <p:cNvSpPr/>
          <p:nvPr/>
        </p:nvSpPr>
        <p:spPr>
          <a:xfrm>
            <a:off x="457200" y="914400"/>
            <a:ext cx="8229600" cy="548640"/>
          </a:xfrm>
          <a:prstGeom prst="rect">
            <a:avLst/>
          </a:prstGeom>
          <a:noFill/>
          <a:ln/>
        </p:spPr>
        <p:txBody>
          <a:bodyPr wrap="square" rtlCol="0" anchor="ctr"/>
          <a:lstStyle/>
          <a:p>
            <a:pPr indent="0" marL="0">
              <a:buNone/>
            </a:pPr>
            <a:r>
              <a:rPr lang="en-US" sz="1800" dirty="0">
                <a:solidFill>
                  <a:srgbClr val="FFFFFF"/>
                </a:solidFill>
              </a:rPr>
              <a:t>Arranges children vertically (top to bottom). Main axis = vertical, Cross axis = horizontal.</a:t>
            </a:r>
            <a:endParaRPr lang="en-US" sz="1800" dirty="0"/>
          </a:p>
        </p:txBody>
      </p:sp>
      <p:sp>
        <p:nvSpPr>
          <p:cNvPr id="4" name="Shape 2"/>
          <p:cNvSpPr/>
          <p:nvPr/>
        </p:nvSpPr>
        <p:spPr>
          <a:xfrm>
            <a:off x="457200" y="1645920"/>
            <a:ext cx="8229600" cy="2926080"/>
          </a:xfrm>
          <a:prstGeom prst="roundRect">
            <a:avLst/>
          </a:prstGeom>
          <a:solidFill>
            <a:srgbClr val="000000">
              <a:alpha val="70000"/>
            </a:srgbClr>
          </a:solidFill>
          <a:ln/>
        </p:spPr>
      </p:sp>
      <p:sp>
        <p:nvSpPr>
          <p:cNvPr id="5" name="Text 3"/>
          <p:cNvSpPr/>
          <p:nvPr/>
        </p:nvSpPr>
        <p:spPr>
          <a:xfrm>
            <a:off x="640080" y="1828800"/>
            <a:ext cx="7863840" cy="2560320"/>
          </a:xfrm>
          <a:prstGeom prst="rect">
            <a:avLst/>
          </a:prstGeom>
          <a:noFill/>
          <a:ln/>
        </p:spPr>
        <p:txBody>
          <a:bodyPr wrap="square" rtlCol="0" anchor="ctr"/>
          <a:lstStyle/>
          <a:p>
            <a:pPr indent="0" marL="0">
              <a:buNone/>
            </a:pPr>
            <a:r>
              <a:rPr lang="en-US" sz="1600" dirty="0">
                <a:solidFill>
                  <a:srgbClr val="FFFFFF"/>
                </a:solidFill>
                <a:latin typeface="Courier New" pitchFamily="34" charset="0"/>
                <a:ea typeface="Courier New" pitchFamily="34" charset="-122"/>
                <a:cs typeface="Courier New" pitchFamily="34" charset="-120"/>
              </a:rPr>
              <a:t>Column(</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  crossAxisAlignment: CrossAxisAlignment.stretch,</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  children: [</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    Text("Top"),</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    Spacer(), // pushes items apart</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    Text("Bottom"),</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576C"/>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indent="0" marL="0">
              <a:buNone/>
            </a:pPr>
            <a:r>
              <a:rPr lang="en-US" sz="4000" b="1" dirty="0">
                <a:solidFill>
                  <a:srgbClr val="FFFFFF"/>
                </a:solidFill>
              </a:rPr>
              <a:t>Stack</a:t>
            </a:r>
            <a:endParaRPr lang="en-US" sz="4000" dirty="0"/>
          </a:p>
        </p:txBody>
      </p:sp>
      <p:sp>
        <p:nvSpPr>
          <p:cNvPr id="3" name="Text 1"/>
          <p:cNvSpPr/>
          <p:nvPr/>
        </p:nvSpPr>
        <p:spPr>
          <a:xfrm>
            <a:off x="457200" y="914400"/>
            <a:ext cx="8229600" cy="731520"/>
          </a:xfrm>
          <a:prstGeom prst="rect">
            <a:avLst/>
          </a:prstGeom>
          <a:noFill/>
          <a:ln/>
        </p:spPr>
        <p:txBody>
          <a:bodyPr wrap="square" rtlCol="0" anchor="ctr"/>
          <a:lstStyle/>
          <a:p>
            <a:pPr indent="0" marL="0">
              <a:buNone/>
            </a:pPr>
            <a:r>
              <a:rPr lang="en-US" sz="1800" dirty="0">
                <a:solidFill>
                  <a:srgbClr val="FFFFFF"/>
                </a:solidFill>
              </a:rPr>
              <a:t>Places children on top of each other (like layers in Photoshop). Children are drawn in the order they appear in the list. Useful for overlapping elements (badges, floating buttons, backgrounds).</a:t>
            </a:r>
            <a:endParaRPr lang="en-US" sz="1800" dirty="0"/>
          </a:p>
        </p:txBody>
      </p:sp>
      <p:sp>
        <p:nvSpPr>
          <p:cNvPr id="4" name="Shape 2"/>
          <p:cNvSpPr/>
          <p:nvPr/>
        </p:nvSpPr>
        <p:spPr>
          <a:xfrm>
            <a:off x="457200" y="1828800"/>
            <a:ext cx="8229600" cy="2743200"/>
          </a:xfrm>
          <a:prstGeom prst="roundRect">
            <a:avLst/>
          </a:prstGeom>
          <a:solidFill>
            <a:srgbClr val="000000">
              <a:alpha val="70000"/>
            </a:srgbClr>
          </a:solidFill>
          <a:ln/>
        </p:spPr>
      </p:sp>
      <p:sp>
        <p:nvSpPr>
          <p:cNvPr id="5" name="Text 3"/>
          <p:cNvSpPr/>
          <p:nvPr/>
        </p:nvSpPr>
        <p:spPr>
          <a:xfrm>
            <a:off x="640080" y="2011680"/>
            <a:ext cx="7863840" cy="2377440"/>
          </a:xfrm>
          <a:prstGeom prst="rect">
            <a:avLst/>
          </a:prstGeom>
          <a:noFill/>
          <a:ln/>
        </p:spPr>
        <p:txBody>
          <a:bodyPr wrap="square" rtlCol="0" anchor="ctr"/>
          <a:lstStyle/>
          <a:p>
            <a:pPr indent="0" marL="0">
              <a:buNone/>
            </a:pPr>
            <a:r>
              <a:rPr lang="en-US" sz="1500" dirty="0">
                <a:solidFill>
                  <a:srgbClr val="FFFFFF"/>
                </a:solidFill>
                <a:latin typeface="Courier New" pitchFamily="34" charset="0"/>
                <a:ea typeface="Courier New" pitchFamily="34" charset="-122"/>
                <a:cs typeface="Courier New" pitchFamily="34" charset="-120"/>
              </a:rPr>
              <a:t>Stack(</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  children: [</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    Container(width: 300, height: 300, color: Colors.grey),</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    Positioned(</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      top: 50, left: 50,</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      child: Text("Overlapping Text"),</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    Align(</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      alignment: Alignment.bottomRight,</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      child: FloatingActionButton(onPressed: () {}),</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FFFFFF"/>
                </a:solidFill>
                <a:latin typeface="Courier New" pitchFamily="34" charset="0"/>
                <a:ea typeface="Courier New" pitchFamily="34" charset="-122"/>
                <a:cs typeface="Courier New" pitchFamily="34" charset="-120"/>
              </a:rPr>
              <a: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F2FE"/>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1A1A"/>
                </a:solidFill>
              </a:rPr>
              <a:t>What is Responsive Design?</a:t>
            </a:r>
            <a:endParaRPr lang="en-US" sz="4000" dirty="0"/>
          </a:p>
        </p:txBody>
      </p:sp>
      <p:sp>
        <p:nvSpPr>
          <p:cNvPr id="3" name="Shape 1"/>
          <p:cNvSpPr/>
          <p:nvPr/>
        </p:nvSpPr>
        <p:spPr>
          <a:xfrm>
            <a:off x="914400" y="1371600"/>
            <a:ext cx="7315200" cy="2743200"/>
          </a:xfrm>
          <a:prstGeom prst="roundRect">
            <a:avLst/>
          </a:prstGeom>
          <a:solidFill>
            <a:srgbClr val="FFFFFF">
              <a:alpha val="80000"/>
            </a:srgbClr>
          </a:solidFill>
          <a:ln/>
        </p:spPr>
      </p:sp>
      <p:sp>
        <p:nvSpPr>
          <p:cNvPr id="4" name="Text 2"/>
          <p:cNvSpPr/>
          <p:nvPr/>
        </p:nvSpPr>
        <p:spPr>
          <a:xfrm>
            <a:off x="1188720" y="1828800"/>
            <a:ext cx="6766560" cy="1828800"/>
          </a:xfrm>
          <a:prstGeom prst="rect">
            <a:avLst/>
          </a:prstGeom>
          <a:noFill/>
          <a:ln/>
        </p:spPr>
        <p:txBody>
          <a:bodyPr wrap="square" rtlCol="0" anchor="ctr"/>
          <a:lstStyle/>
          <a:p>
            <a:pPr indent="0" marL="0">
              <a:buNone/>
            </a:pPr>
            <a:r>
              <a:rPr lang="en-US" sz="2200" dirty="0">
                <a:solidFill>
                  <a:srgbClr val="1A1A1A"/>
                </a:solidFill>
              </a:rPr>
              <a:t>Responsive design is the practice of building user interfaces that automatically adapt to different screen sizes, orientations, pixel densities, and device types while maintaining usability and visual quality. The layout, text size, spacing, and component arrangement change based on the available screen space.</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F2FE"/>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1A1A"/>
                </a:solidFill>
              </a:rPr>
              <a:t>Flutter Responsiveness Tools</a:t>
            </a:r>
            <a:endParaRPr lang="en-US" sz="4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3200400"/>
        </p:xfrm>
        <a:graphic>
          <a:graphicData uri="http://schemas.openxmlformats.org/drawingml/2006/table">
            <a:tbl>
              <a:tblPr/>
              <a:tblGrid>
                <a:gridCol w="4114800"/>
                <a:gridCol w="4114800"/>
              </a:tblGrid>
              <a:tr h="640080">
                <a:tc>
                  <a:txBody>
                    <a:bodyPr/>
                    <a:lstStyle/>
                    <a:p>
                      <a:pPr indent="0" marL="0">
                        <a:buNone/>
                      </a:pPr>
                      <a:r>
                        <a:rPr lang="en-US" sz="1800" dirty="0">
                          <a:solidFill>
                            <a:srgbClr val="1A1A1A"/>
                          </a:solidFill>
                        </a:rPr>
                        <a:t>Tool</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c>
                  <a:txBody>
                    <a:bodyPr/>
                    <a:lstStyle/>
                    <a:p>
                      <a:pPr indent="0" marL="0">
                        <a:buNone/>
                      </a:pPr>
                      <a:r>
                        <a:rPr lang="en-US" sz="1800" dirty="0">
                          <a:solidFill>
                            <a:srgbClr val="1A1A1A"/>
                          </a:solidFill>
                        </a:rPr>
                        <a:t>Purpose</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r>
              <a:tr h="640080">
                <a:tc>
                  <a:txBody>
                    <a:bodyPr/>
                    <a:lstStyle/>
                    <a:p>
                      <a:pPr indent="0" marL="0">
                        <a:buNone/>
                      </a:pPr>
                      <a:r>
                        <a:rPr lang="en-US" sz="1800" dirty="0">
                          <a:solidFill>
                            <a:srgbClr val="1A1A1A"/>
                          </a:solidFill>
                        </a:rPr>
                        <a:t>MediaQuery</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c>
                  <a:txBody>
                    <a:bodyPr/>
                    <a:lstStyle/>
                    <a:p>
                      <a:pPr indent="0" marL="0">
                        <a:buNone/>
                      </a:pPr>
                      <a:r>
                        <a:rPr lang="en-US" sz="1800" dirty="0">
                          <a:solidFill>
                            <a:srgbClr val="1A1A1A"/>
                          </a:solidFill>
                        </a:rPr>
                        <a:t>Retrieves device information such as screen size, orientation, padding</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r>
              <a:tr h="640080">
                <a:tc>
                  <a:txBody>
                    <a:bodyPr/>
                    <a:lstStyle/>
                    <a:p>
                      <a:pPr indent="0" marL="0">
                        <a:buNone/>
                      </a:pPr>
                      <a:r>
                        <a:rPr lang="en-US" sz="1800" dirty="0">
                          <a:solidFill>
                            <a:srgbClr val="1A1A1A"/>
                          </a:solidFill>
                        </a:rPr>
                        <a:t>LayoutBuilder</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c>
                  <a:txBody>
                    <a:bodyPr/>
                    <a:lstStyle/>
                    <a:p>
                      <a:pPr indent="0" marL="0">
                        <a:buNone/>
                      </a:pPr>
                      <a:r>
                        <a:rPr lang="en-US" sz="1800" dirty="0">
                          <a:solidFill>
                            <a:srgbClr val="1A1A1A"/>
                          </a:solidFill>
                        </a:rPr>
                        <a:t>Builds widgets based on exact constraints from parent</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r>
              <a:tr h="640080">
                <a:tc>
                  <a:txBody>
                    <a:bodyPr/>
                    <a:lstStyle/>
                    <a:p>
                      <a:pPr indent="0" marL="0">
                        <a:buNone/>
                      </a:pPr>
                      <a:r>
                        <a:rPr lang="en-US" sz="1800" dirty="0">
                          <a:solidFill>
                            <a:srgbClr val="1A1A1A"/>
                          </a:solidFill>
                        </a:rPr>
                        <a:t>Expanded/Flexible</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c>
                  <a:txBody>
                    <a:bodyPr/>
                    <a:lstStyle/>
                    <a:p>
                      <a:pPr indent="0" marL="0">
                        <a:buNone/>
                      </a:pPr>
                      <a:r>
                        <a:rPr lang="en-US" sz="1800" dirty="0">
                          <a:solidFill>
                            <a:srgbClr val="1A1A1A"/>
                          </a:solidFill>
                        </a:rPr>
                        <a:t>Share available space proportionally in Row/Column</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r>
              <a:tr h="640080">
                <a:tc>
                  <a:txBody>
                    <a:bodyPr/>
                    <a:lstStyle/>
                    <a:p>
                      <a:pPr indent="0" marL="0">
                        <a:buNone/>
                      </a:pPr>
                      <a:r>
                        <a:rPr lang="en-US" sz="1800" dirty="0">
                          <a:solidFill>
                            <a:srgbClr val="1A1A1A"/>
                          </a:solidFill>
                        </a:rPr>
                        <a:t>FractionallySizedBox</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c>
                  <a:txBody>
                    <a:bodyPr/>
                    <a:lstStyle/>
                    <a:p>
                      <a:pPr indent="0" marL="0">
                        <a:buNone/>
                      </a:pPr>
                      <a:r>
                        <a:rPr lang="en-US" sz="1800" dirty="0">
                          <a:solidFill>
                            <a:srgbClr val="1A1A1A"/>
                          </a:solidFill>
                        </a:rPr>
                        <a:t>Sizes child as fraction of parent (e.g., 50%)</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F2FE"/>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1A1A"/>
                </a:solidFill>
              </a:rPr>
              <a:t>More Responsiveness Tools</a:t>
            </a:r>
            <a:endParaRPr lang="en-US" sz="4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286000"/>
        </p:xfrm>
        <a:graphic>
          <a:graphicData uri="http://schemas.openxmlformats.org/drawingml/2006/table">
            <a:tbl>
              <a:tblPr/>
              <a:tblGrid>
                <a:gridCol w="4114800"/>
                <a:gridCol w="4114800"/>
              </a:tblGrid>
              <a:tr h="571500">
                <a:tc>
                  <a:txBody>
                    <a:bodyPr/>
                    <a:lstStyle/>
                    <a:p>
                      <a:pPr indent="0" marL="0">
                        <a:buNone/>
                      </a:pPr>
                      <a:r>
                        <a:rPr lang="en-US" sz="1800" dirty="0">
                          <a:solidFill>
                            <a:srgbClr val="1A1A1A"/>
                          </a:solidFill>
                        </a:rPr>
                        <a:t>Tool</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c>
                  <a:txBody>
                    <a:bodyPr/>
                    <a:lstStyle/>
                    <a:p>
                      <a:pPr indent="0" marL="0">
                        <a:buNone/>
                      </a:pPr>
                      <a:r>
                        <a:rPr lang="en-US" sz="1800" dirty="0">
                          <a:solidFill>
                            <a:srgbClr val="1A1A1A"/>
                          </a:solidFill>
                        </a:rPr>
                        <a:t>Purpose</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r>
              <a:tr h="571500">
                <a:tc>
                  <a:txBody>
                    <a:bodyPr/>
                    <a:lstStyle/>
                    <a:p>
                      <a:pPr indent="0" marL="0">
                        <a:buNone/>
                      </a:pPr>
                      <a:r>
                        <a:rPr lang="en-US" sz="1800" dirty="0">
                          <a:solidFill>
                            <a:srgbClr val="1A1A1A"/>
                          </a:solidFill>
                        </a:rPr>
                        <a:t>AspectRatio</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c>
                  <a:txBody>
                    <a:bodyPr/>
                    <a:lstStyle/>
                    <a:p>
                      <a:pPr indent="0" marL="0">
                        <a:buNone/>
                      </a:pPr>
                      <a:r>
                        <a:rPr lang="en-US" sz="1800" dirty="0">
                          <a:solidFill>
                            <a:srgbClr val="1A1A1A"/>
                          </a:solidFill>
                        </a:rPr>
                        <a:t>Forces widget to maintain specific width-to-height ratio</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r>
              <a:tr h="571500">
                <a:tc>
                  <a:txBody>
                    <a:bodyPr/>
                    <a:lstStyle/>
                    <a:p>
                      <a:pPr indent="0" marL="0">
                        <a:buNone/>
                      </a:pPr>
                      <a:r>
                        <a:rPr lang="en-US" sz="1800" dirty="0">
                          <a:solidFill>
                            <a:srgbClr val="1A1A1A"/>
                          </a:solidFill>
                        </a:rPr>
                        <a:t>SafeArea</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c>
                  <a:txBody>
                    <a:bodyPr/>
                    <a:lstStyle/>
                    <a:p>
                      <a:pPr indent="0" marL="0">
                        <a:buNone/>
                      </a:pPr>
                      <a:r>
                        <a:rPr lang="en-US" sz="1800" dirty="0">
                          <a:solidFill>
                            <a:srgbClr val="1A1A1A"/>
                          </a:solidFill>
                        </a:rPr>
                        <a:t>Adds padding to avoid system UI elements like notches</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r>
              <a:tr h="571500">
                <a:tc>
                  <a:txBody>
                    <a:bodyPr/>
                    <a:lstStyle/>
                    <a:p>
                      <a:pPr indent="0" marL="0">
                        <a:buNone/>
                      </a:pPr>
                      <a:r>
                        <a:rPr lang="en-US" sz="1800" dirty="0">
                          <a:solidFill>
                            <a:srgbClr val="1A1A1A"/>
                          </a:solidFill>
                        </a:rPr>
                        <a:t>OrientationBuilder</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c>
                  <a:txBody>
                    <a:bodyPr/>
                    <a:lstStyle/>
                    <a:p>
                      <a:pPr indent="0" marL="0">
                        <a:buNone/>
                      </a:pPr>
                      <a:r>
                        <a:rPr lang="en-US" sz="1800" dirty="0">
                          <a:solidFill>
                            <a:srgbClr val="1A1A1A"/>
                          </a:solidFill>
                        </a:rPr>
                        <a:t>Rebuilds UI when device orientation changes</a:t>
                      </a:r>
                      <a:endParaRPr lang="en-US" sz="1800" dirty="0"/>
                    </a:p>
                  </a:txBody>
                  <a:tcPr marL="91440" marR="91440" marT="45720" marB="45720">
                    <a:lnL w="12700" cap="flat" cmpd="sng" algn="ctr">
                      <a:solidFill>
                        <a:srgbClr val="1A1A1A"/>
                      </a:solidFill>
                      <a:prstDash val="solid"/>
                      <a:round/>
                      <a:headEnd type="none" w="med" len="med"/>
                      <a:tailEnd type="none" w="med" len="med"/>
                    </a:lnL>
                    <a:lnR w="12700" cap="flat" cmpd="sng" algn="ctr">
                      <a:solidFill>
                        <a:srgbClr val="1A1A1A"/>
                      </a:solidFill>
                      <a:prstDash val="solid"/>
                      <a:round/>
                      <a:headEnd type="none" w="med" len="med"/>
                      <a:tailEnd type="none" w="med" len="med"/>
                    </a:lnR>
                    <a:lnT w="12700" cap="flat" cmpd="sng" algn="ctr">
                      <a:solidFill>
                        <a:srgbClr val="1A1A1A"/>
                      </a:solidFill>
                      <a:prstDash val="solid"/>
                      <a:round/>
                      <a:headEnd type="none" w="med" len="med"/>
                      <a:tailEnd type="none" w="med" len="med"/>
                    </a:lnT>
                    <a:lnB w="12700" cap="flat" cmpd="sng" algn="ctr">
                      <a:solidFill>
                        <a:srgbClr val="1A1A1A"/>
                      </a:solidFill>
                      <a:prstDash val="solid"/>
                      <a:round/>
                      <a:headEnd type="none" w="med" len="med"/>
                      <a:tailEnd type="none" w="med" len="med"/>
                    </a:lnB>
                    <a:solidFill>
                      <a:srgbClr val="FFFFFF">
                        <a:alpha val="80000"/>
                      </a:srgbClr>
                    </a:solidFill>
                  </a:tcPr>
                </a:tc>
              </a:tr>
            </a:tbl>
          </a:graphicData>
        </a:graphic>
      </p:graphicFrame>
      <p:sp>
        <p:nvSpPr>
          <p:cNvPr id="4" name="Text 1"/>
          <p:cNvSpPr/>
          <p:nvPr/>
        </p:nvSpPr>
        <p:spPr>
          <a:xfrm>
            <a:off x="457200" y="3840480"/>
            <a:ext cx="8229600" cy="914400"/>
          </a:xfrm>
          <a:prstGeom prst="rect">
            <a:avLst/>
          </a:prstGeom>
          <a:noFill/>
          <a:ln/>
        </p:spPr>
        <p:txBody>
          <a:bodyPr wrap="square" rtlCol="0" anchor="ctr"/>
          <a:lstStyle/>
          <a:p>
            <a:pPr indent="0" marL="0">
              <a:buNone/>
            </a:pPr>
            <a:r>
              <a:rPr lang="en-US" sz="2000" dirty="0">
                <a:solidFill>
                  <a:srgbClr val="1A1A1A"/>
                </a:solidFill>
              </a:rPr>
              <a:t>These tools enable developers to create layouts that scale and rearrange automatically across phones, tablets, and different orientations without fixed pixel values.</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38F9D7"/>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1A1A"/>
                </a:solidFill>
              </a:rPr>
              <a:t>Widget Lifecycle</a:t>
            </a:r>
            <a:endParaRPr lang="en-US" sz="4000" dirty="0"/>
          </a:p>
        </p:txBody>
      </p:sp>
      <p:sp>
        <p:nvSpPr>
          <p:cNvPr id="3" name="Shape 1"/>
          <p:cNvSpPr/>
          <p:nvPr/>
        </p:nvSpPr>
        <p:spPr>
          <a:xfrm>
            <a:off x="914400" y="1371600"/>
            <a:ext cx="7315200" cy="2743200"/>
          </a:xfrm>
          <a:prstGeom prst="roundRect">
            <a:avLst/>
          </a:prstGeom>
          <a:solidFill>
            <a:srgbClr val="FFFFFF">
              <a:alpha val="80000"/>
            </a:srgbClr>
          </a:solidFill>
          <a:ln/>
        </p:spPr>
      </p:sp>
      <p:sp>
        <p:nvSpPr>
          <p:cNvPr id="4" name="Text 2"/>
          <p:cNvSpPr/>
          <p:nvPr/>
        </p:nvSpPr>
        <p:spPr>
          <a:xfrm>
            <a:off x="1188720" y="1828800"/>
            <a:ext cx="6766560" cy="1828800"/>
          </a:xfrm>
          <a:prstGeom prst="rect">
            <a:avLst/>
          </a:prstGeom>
          <a:noFill/>
          <a:ln/>
        </p:spPr>
        <p:txBody>
          <a:bodyPr wrap="square" rtlCol="0" anchor="ctr"/>
          <a:lstStyle/>
          <a:p>
            <a:pPr indent="0" marL="0">
              <a:buNone/>
            </a:pPr>
            <a:r>
              <a:rPr lang="en-US" sz="2200" dirty="0">
                <a:solidFill>
                  <a:srgbClr val="1A1A1A"/>
                </a:solidFill>
              </a:rPr>
              <a:t>A widget lifecycle is the sequence of methods that Flutter calls automatically as a widget is created, updated, and destroyed in the widget tree. It applies mainly to StatefulWidget (because it has mutable state). StatelessWidget has only one method: build().</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38F9D7"/>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1A1A"/>
                </a:solidFill>
              </a:rPr>
              <a:t>Key Lifecycle Stages</a:t>
            </a:r>
            <a:endParaRPr lang="en-US" sz="4000" dirty="0"/>
          </a:p>
        </p:txBody>
      </p:sp>
      <p:sp>
        <p:nvSpPr>
          <p:cNvPr id="3" name="Text 1"/>
          <p:cNvSpPr/>
          <p:nvPr/>
        </p:nvSpPr>
        <p:spPr>
          <a:xfrm>
            <a:off x="457200" y="1188720"/>
            <a:ext cx="8229600" cy="3200400"/>
          </a:xfrm>
          <a:prstGeom prst="rect">
            <a:avLst/>
          </a:prstGeom>
          <a:noFill/>
          <a:ln/>
        </p:spPr>
        <p:txBody>
          <a:bodyPr wrap="square" rtlCol="0" anchor="t"/>
          <a:lstStyle/>
          <a:p>
            <a:pPr indent="0" marL="0">
              <a:buNone/>
            </a:pPr>
            <a:r>
              <a:rPr lang="en-US" sz="1800" b="1" dirty="0">
                <a:solidFill>
                  <a:srgbClr val="1A1A1A"/>
                </a:solidFill>
              </a:rPr>
              <a:t>• createState() </a:t>
            </a:r>
            <a:pPr indent="0" marL="0">
              <a:buNone/>
            </a:pPr>
            <a:r>
              <a:rPr lang="en-US" sz="1800" dirty="0">
                <a:solidFill>
                  <a:srgbClr val="1A1A1A"/>
                </a:solidFill>
              </a:rPr>
              <a:t>- Called when StatefulWidget is inserted into tree. Creates State object.
</a:t>
            </a:r>
            <a:pPr indent="0" marL="0">
              <a:buNone/>
            </a:pPr>
            <a:r>
              <a:rPr lang="en-US" sz="1800" b="1" dirty="0">
                <a:solidFill>
                  <a:srgbClr val="1A1A1A"/>
                </a:solidFill>
              </a:rPr>
              <a:t>• initState() </a:t>
            </a:r>
            <a:pPr indent="0" marL="0">
              <a:buNone/>
            </a:pPr>
            <a:r>
              <a:rPr lang="en-US" sz="1800" dirty="0">
                <a:solidFill>
                  <a:srgbClr val="1A1A1A"/>
                </a:solidFill>
              </a:rPr>
              <a:t>- Called once when State is first created. Use for initialization.
</a:t>
            </a:r>
            <a:pPr indent="0" marL="0">
              <a:buNone/>
            </a:pPr>
            <a:r>
              <a:rPr lang="en-US" sz="1800" b="1" dirty="0">
                <a:solidFill>
                  <a:srgbClr val="1A1A1A"/>
                </a:solidFill>
              </a:rPr>
              <a:t>• didChangeDependencies() </a:t>
            </a:r>
            <a:pPr indent="0" marL="0">
              <a:buNone/>
            </a:pPr>
            <a:r>
              <a:rPr lang="en-US" sz="1800" dirty="0">
                <a:solidFill>
                  <a:srgbClr val="1A1A1A"/>
                </a:solidFill>
              </a:rPr>
              <a:t>- Called after initState() and when inherited widgets change.
</a:t>
            </a:r>
            <a:pPr indent="0" marL="0">
              <a:buNone/>
            </a:pPr>
            <a:r>
              <a:rPr lang="en-US" sz="1800" b="1" dirty="0">
                <a:solidFill>
                  <a:srgbClr val="1A1A1A"/>
                </a:solidFill>
              </a:rPr>
              <a:t>• build() </a:t>
            </a:r>
            <a:pPr indent="0" marL="0">
              <a:buNone/>
            </a:pPr>
            <a:r>
              <a:rPr lang="en-US" sz="1800" dirty="0">
                <a:solidFill>
                  <a:srgbClr val="1A1A1A"/>
                </a:solidFill>
              </a:rPr>
              <a:t>- Called every time widget needs to render or re-render UI.
</a:t>
            </a:r>
            <a:pPr indent="0" marL="0">
              <a:buNone/>
            </a:pPr>
            <a:r>
              <a:rPr lang="en-US" sz="1800" b="1" dirty="0">
                <a:solidFill>
                  <a:srgbClr val="1A1A1A"/>
                </a:solidFill>
              </a:rPr>
              <a:t>• didUpdateWidget() </a:t>
            </a:r>
            <a:pPr indent="0" marL="0">
              <a:buNone/>
            </a:pPr>
            <a:r>
              <a:rPr lang="en-US" sz="1800" dirty="0">
                <a:solidFill>
                  <a:srgbClr val="1A1A1A"/>
                </a:solidFill>
              </a:rPr>
              <a:t>- Called when parent widget rebuilds with new configuration.</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EE140"/>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4000" b="1" dirty="0">
                <a:solidFill>
                  <a:srgbClr val="1A1A1A"/>
                </a:solidFill>
              </a:rPr>
              <a:t>More Lifecycle Stages</a:t>
            </a:r>
            <a:endParaRPr lang="en-US" sz="4000" dirty="0"/>
          </a:p>
        </p:txBody>
      </p:sp>
      <p:sp>
        <p:nvSpPr>
          <p:cNvPr id="3" name="Text 1"/>
          <p:cNvSpPr/>
          <p:nvPr/>
        </p:nvSpPr>
        <p:spPr>
          <a:xfrm>
            <a:off x="457200" y="1371600"/>
            <a:ext cx="8229600" cy="2743200"/>
          </a:xfrm>
          <a:prstGeom prst="rect">
            <a:avLst/>
          </a:prstGeom>
          <a:noFill/>
          <a:ln/>
        </p:spPr>
        <p:txBody>
          <a:bodyPr wrap="square" rtlCol="0" anchor="t"/>
          <a:lstStyle/>
          <a:p>
            <a:pPr indent="0" marL="0">
              <a:buNone/>
            </a:pPr>
            <a:r>
              <a:rPr lang="en-US" sz="2000" b="1" dirty="0">
                <a:solidFill>
                  <a:srgbClr val="1A1A1A"/>
                </a:solidFill>
              </a:rPr>
              <a:t>• reassemble() </a:t>
            </a:r>
            <a:pPr indent="0" marL="0">
              <a:buNone/>
            </a:pPr>
            <a:r>
              <a:rPr lang="en-US" sz="2000" dirty="0">
                <a:solidFill>
                  <a:srgbClr val="1A1A1A"/>
                </a:solidFill>
              </a:rPr>
              <a:t>- Called during hot reload (development only).
</a:t>
            </a:r>
            <a:pPr indent="0" marL="0">
              <a:buNone/>
            </a:pPr>
            <a:r>
              <a:rPr lang="en-US" sz="2000" b="1" dirty="0">
                <a:solidFill>
                  <a:srgbClr val="1A1A1A"/>
                </a:solidFill>
              </a:rPr>
              <a:t>• deactivate() </a:t>
            </a:r>
            <a:pPr indent="0" marL="0">
              <a:buNone/>
            </a:pPr>
            <a:r>
              <a:rPr lang="en-US" sz="2000" dirty="0">
                <a:solidFill>
                  <a:srgbClr val="1A1A1A"/>
                </a:solidFill>
              </a:rPr>
              <a:t>- Called when State is temporarily removed from tree.
</a:t>
            </a:r>
            <a:pPr indent="0" marL="0">
              <a:buNone/>
            </a:pPr>
            <a:r>
              <a:rPr lang="en-US" sz="2000" b="1" dirty="0">
                <a:solidFill>
                  <a:srgbClr val="1A1A1A"/>
                </a:solidFill>
              </a:rPr>
              <a:t>• dispose() </a:t>
            </a:r>
            <a:pPr indent="0" marL="0">
              <a:buNone/>
            </a:pPr>
            <a:r>
              <a:rPr lang="en-US" sz="2000" dirty="0">
                <a:solidFill>
                  <a:srgbClr val="1A1A1A"/>
                </a:solidFill>
              </a:rPr>
              <a:t>- Called when State is permanently removed. Use to clean up resources (controllers, streams, listeners, animations) to prevent memory leaks.</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EE140"/>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rtlCol="0" anchor="ctr"/>
          <a:lstStyle/>
          <a:p>
            <a:pPr indent="0" marL="0">
              <a:buNone/>
            </a:pPr>
            <a:r>
              <a:rPr lang="en-US" sz="3600" b="1" dirty="0">
                <a:solidFill>
                  <a:srgbClr val="1A1A1A"/>
                </a:solidFill>
              </a:rPr>
              <a:t>Why Lifecycle Understanding is Important</a:t>
            </a:r>
            <a:endParaRPr lang="en-US" sz="3600" dirty="0"/>
          </a:p>
        </p:txBody>
      </p:sp>
      <p:sp>
        <p:nvSpPr>
          <p:cNvPr id="3" name="Text 1"/>
          <p:cNvSpPr/>
          <p:nvPr/>
        </p:nvSpPr>
        <p:spPr>
          <a:xfrm>
            <a:off x="457200" y="1188720"/>
            <a:ext cx="8229600" cy="3200400"/>
          </a:xfrm>
          <a:prstGeom prst="rect">
            <a:avLst/>
          </a:prstGeom>
          <a:noFill/>
          <a:ln/>
        </p:spPr>
        <p:txBody>
          <a:bodyPr wrap="square" rtlCol="0" anchor="t"/>
          <a:lstStyle/>
          <a:p>
            <a:pPr indent="0" marL="0">
              <a:buNone/>
            </a:pPr>
            <a:r>
              <a:rPr lang="en-US" sz="1800" dirty="0">
                <a:solidFill>
                  <a:srgbClr val="1A1A1A"/>
                </a:solidFill>
              </a:rPr>
              <a:t>• Prevents memory leaks by properly disposing resources in dispose().
</a:t>
            </a:r>
            <a:pPr indent="0" marL="0">
              <a:buNone/>
            </a:pPr>
            <a:r>
              <a:rPr lang="en-US" sz="1800" dirty="0">
                <a:solidFill>
                  <a:srgbClr val="1A1A1A"/>
                </a:solidFill>
              </a:rPr>
              <a:t>• Avoids unnecessary rebuilds and improves performance.
</a:t>
            </a:r>
            <a:pPr indent="0" marL="0">
              <a:buNone/>
            </a:pPr>
            <a:r>
              <a:rPr lang="en-US" sz="1800" dirty="0">
                <a:solidFill>
                  <a:srgbClr val="1A1A1A"/>
                </a:solidFill>
              </a:rPr>
              <a:t>• Ensures correct initialization (e.g., calling APIs only once in initState()).
</a:t>
            </a:r>
            <a:pPr indent="0" marL="0">
              <a:buNone/>
            </a:pPr>
            <a:r>
              <a:rPr lang="en-US" sz="1800" dirty="0">
                <a:solidFill>
                  <a:srgbClr val="1A1A1A"/>
                </a:solidFill>
              </a:rPr>
              <a:t>• Helps handle configuration changes (theme, localization, screen size) in didChangeDependencies().
</a:t>
            </a:r>
            <a:pPr indent="0" marL="0">
              <a:buNone/>
            </a:pPr>
            <a:r>
              <a:rPr lang="en-US" sz="1800" dirty="0">
                <a:solidFill>
                  <a:srgbClr val="1A1A1A"/>
                </a:solidFill>
              </a:rPr>
              <a:t>• Makes debugging easier when widgets behave unexpectedly during updates or navigation.
</a:t>
            </a:r>
            <a:pPr indent="0" marL="0">
              <a:buNone/>
            </a:pPr>
            <a:r>
              <a:rPr lang="en-US" sz="1800" b="1" dirty="0">
                <a:solidFill>
                  <a:srgbClr val="1A1A1A"/>
                </a:solidFill>
              </a:rPr>
              <a:t>Mastering the lifecycle lets you write efficient, bug-free Flutter code that scales well across different app flows.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Flutter Widgets &amp; Lifecycle</dc:title>
  <dc:subject>PptxGenJS Presentation</dc:subject>
  <dc:creator>Flutter Developer</dc:creator>
  <cp:lastModifiedBy>Flutter Developer</cp:lastModifiedBy>
  <cp:revision>1</cp:revision>
  <dcterms:created xsi:type="dcterms:W3CDTF">2026-04-04T14:30:55Z</dcterms:created>
  <dcterms:modified xsi:type="dcterms:W3CDTF">2026-04-04T14:30:55Z</dcterms:modified>
</cp:coreProperties>
</file>